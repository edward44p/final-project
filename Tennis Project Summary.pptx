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40835141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15090946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25850208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01D0BE-4963-416C-8FD3-D9B1319EACF4}" type="datetimeFigureOut">
              <a:rPr lang="en-GB" smtClean="0"/>
              <a:t>19/12/2025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973802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01D0BE-4963-416C-8FD3-D9B1319EACF4}" type="datetimeFigureOut">
              <a:rPr lang="en-GB" smtClean="0"/>
              <a:t>19/12/2025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229837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01D0BE-4963-416C-8FD3-D9B1319EACF4}" type="datetimeFigureOut">
              <a:rPr lang="en-GB" smtClean="0"/>
              <a:t>19/12/2025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10347144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01D0BE-4963-416C-8FD3-D9B1319EACF4}" type="datetimeFigureOut">
              <a:rPr lang="en-GB" smtClean="0"/>
              <a:t>19/12/2025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3978045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D01D0BE-4963-416C-8FD3-D9B1319EACF4}" type="datetimeFigureOut">
              <a:rPr lang="en-GB" smtClean="0"/>
              <a:t>19/12/2025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33755486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01D0BE-4963-416C-8FD3-D9B1319EACF4}" type="datetimeFigureOut">
              <a:rPr lang="en-GB" smtClean="0"/>
              <a:t>19/12/2025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25111114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20378086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0990360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17763963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01431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30366802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1389113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01D0BE-4963-416C-8FD3-D9B1319EACF4}" type="datetimeFigureOut">
              <a:rPr lang="en-GB" smtClean="0"/>
              <a:t>19/12/2025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50329E8-494D-495A-838F-B6057B87AD61}" type="slidenum">
              <a:rPr lang="en-GB" smtClean="0"/>
              <a:t>‹#›</a:t>
            </a:fld>
            <a:endParaRPr lang="en-GB"/>
          </a:p>
        </p:txBody>
      </p:sp>
    </p:spTree>
    <p:extLst>
      <p:ext uri="{BB962C8B-B14F-4D97-AF65-F5344CB8AC3E}">
        <p14:creationId xmlns:p14="http://schemas.microsoft.com/office/powerpoint/2010/main" val="4155750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D01D0BE-4963-416C-8FD3-D9B1319EACF4}" type="datetimeFigureOut">
              <a:rPr lang="en-GB" smtClean="0"/>
              <a:t>19/12/2025</a:t>
            </a:fld>
            <a:endParaRPr lang="en-GB"/>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A50329E8-494D-495A-838F-B6057B87AD61}" type="slidenum">
              <a:rPr lang="en-GB" smtClean="0"/>
              <a:t>‹#›</a:t>
            </a:fld>
            <a:endParaRPr lang="en-GB"/>
          </a:p>
        </p:txBody>
      </p:sp>
    </p:spTree>
    <p:extLst>
      <p:ext uri="{BB962C8B-B14F-4D97-AF65-F5344CB8AC3E}">
        <p14:creationId xmlns:p14="http://schemas.microsoft.com/office/powerpoint/2010/main" val="42773359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LkJpNLIaeVk&amp;t=233s" TargetMode="External"/><Relationship Id="rId2" Type="http://schemas.openxmlformats.org/officeDocument/2006/relationships/hyperlink" Target="https://www.kaggle.com/datasets/guillemservera/tennis" TargetMode="Externa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hyperlink" Target="https://github.com/JeffSackmann/tennis_atp/blob/master/matches_data_dictionary.txt" TargetMode="External"/><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2" name="Picture 4" descr="Wimbledon 2018: How IBM Watson is serving up the best viewer experience ...">
            <a:extLst>
              <a:ext uri="{FF2B5EF4-FFF2-40B4-BE49-F238E27FC236}">
                <a16:creationId xmlns:a16="http://schemas.microsoft.com/office/drawing/2014/main" id="{344F5210-75CA-6808-F830-B5F5B77A5D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6544" r="22763" b="6595"/>
          <a:stretch>
            <a:fillRect/>
          </a:stretch>
        </p:blipFill>
        <p:spPr bwMode="auto">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AA3F136-7F9A-8033-6BFF-108F8631FE6A}"/>
              </a:ext>
            </a:extLst>
          </p:cNvPr>
          <p:cNvSpPr>
            <a:spLocks noGrp="1"/>
          </p:cNvSpPr>
          <p:nvPr>
            <p:ph type="ctrTitle"/>
          </p:nvPr>
        </p:nvSpPr>
        <p:spPr>
          <a:xfrm>
            <a:off x="668867" y="1678666"/>
            <a:ext cx="4088190" cy="2369093"/>
          </a:xfrm>
        </p:spPr>
        <p:txBody>
          <a:bodyPr>
            <a:normAutofit/>
          </a:bodyPr>
          <a:lstStyle/>
          <a:p>
            <a:r>
              <a:rPr lang="en-GB" sz="4800" dirty="0"/>
              <a:t>Tennis Dataset Analysis</a:t>
            </a:r>
          </a:p>
        </p:txBody>
      </p:sp>
      <p:sp>
        <p:nvSpPr>
          <p:cNvPr id="3" name="Subtitle 2">
            <a:extLst>
              <a:ext uri="{FF2B5EF4-FFF2-40B4-BE49-F238E27FC236}">
                <a16:creationId xmlns:a16="http://schemas.microsoft.com/office/drawing/2014/main" id="{92D0D04F-25CA-7AEA-329D-118D1161A4AD}"/>
              </a:ext>
            </a:extLst>
          </p:cNvPr>
          <p:cNvSpPr>
            <a:spLocks noGrp="1"/>
          </p:cNvSpPr>
          <p:nvPr>
            <p:ph type="subTitle" idx="1"/>
          </p:nvPr>
        </p:nvSpPr>
        <p:spPr>
          <a:xfrm>
            <a:off x="677335" y="4050831"/>
            <a:ext cx="4079721" cy="1096901"/>
          </a:xfrm>
        </p:spPr>
        <p:txBody>
          <a:bodyPr>
            <a:normAutofit/>
          </a:bodyPr>
          <a:lstStyle/>
          <a:p>
            <a:r>
              <a:rPr lang="en-GB" sz="1600"/>
              <a:t>Research Question: Which Statistical Features Are The Most Significant In Determining Tennis Match Outcomes?</a:t>
            </a:r>
          </a:p>
        </p:txBody>
      </p:sp>
      <p:cxnSp>
        <p:nvCxnSpPr>
          <p:cNvPr id="2078" name="Straight Connector 2077">
            <a:extLst>
              <a:ext uri="{FF2B5EF4-FFF2-40B4-BE49-F238E27FC236}">
                <a16:creationId xmlns:a16="http://schemas.microsoft.com/office/drawing/2014/main" id="{A57C1A16-B8AB-4D99-A195-A38F556A648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080" name="Straight Connector 2079">
            <a:extLst>
              <a:ext uri="{FF2B5EF4-FFF2-40B4-BE49-F238E27FC236}">
                <a16:creationId xmlns:a16="http://schemas.microsoft.com/office/drawing/2014/main" id="{F8A9B20B-D1DD-4573-B5EC-55802951923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082" name="Rectangle 23">
            <a:extLst>
              <a:ext uri="{FF2B5EF4-FFF2-40B4-BE49-F238E27FC236}">
                <a16:creationId xmlns:a16="http://schemas.microsoft.com/office/drawing/2014/main" id="{66D61E08-70C3-48D8-BEA0-787111DC30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84" name="Rectangle 25">
            <a:extLst>
              <a:ext uri="{FF2B5EF4-FFF2-40B4-BE49-F238E27FC236}">
                <a16:creationId xmlns:a16="http://schemas.microsoft.com/office/drawing/2014/main" id="{FC55298F-0AE5-478E-AD2B-03C2614C58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86" name="Isosceles Triangle 24">
            <a:extLst>
              <a:ext uri="{FF2B5EF4-FFF2-40B4-BE49-F238E27FC236}">
                <a16:creationId xmlns:a16="http://schemas.microsoft.com/office/drawing/2014/main" id="{C180E4EA-0B63-4779-A895-7E90E71088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88" name="Rectangle 27">
            <a:extLst>
              <a:ext uri="{FF2B5EF4-FFF2-40B4-BE49-F238E27FC236}">
                <a16:creationId xmlns:a16="http://schemas.microsoft.com/office/drawing/2014/main" id="{CEE01D9D-3DE8-4EED-B0D3-8F3C79CC7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90" name="Rectangle 28">
            <a:extLst>
              <a:ext uri="{FF2B5EF4-FFF2-40B4-BE49-F238E27FC236}">
                <a16:creationId xmlns:a16="http://schemas.microsoft.com/office/drawing/2014/main" id="{89AF5CE9-607F-43F4-8983-DCD6DA4051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92" name="Rectangle 29">
            <a:extLst>
              <a:ext uri="{FF2B5EF4-FFF2-40B4-BE49-F238E27FC236}">
                <a16:creationId xmlns:a16="http://schemas.microsoft.com/office/drawing/2014/main" id="{6EEA2DBD-9E1E-4521-8C01-F32AD18A89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2094" name="Isosceles Triangle 29">
            <a:extLst>
              <a:ext uri="{FF2B5EF4-FFF2-40B4-BE49-F238E27FC236}">
                <a16:creationId xmlns:a16="http://schemas.microsoft.com/office/drawing/2014/main" id="{15BBD2C1-BA9B-46A9-A27A-33498B1692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1593501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E47D8-DDC8-B443-14F4-F6948F4547DB}"/>
              </a:ext>
            </a:extLst>
          </p:cNvPr>
          <p:cNvSpPr>
            <a:spLocks noGrp="1"/>
          </p:cNvSpPr>
          <p:nvPr>
            <p:ph type="title"/>
          </p:nvPr>
        </p:nvSpPr>
        <p:spPr>
          <a:xfrm>
            <a:off x="5536734" y="609600"/>
            <a:ext cx="3737268" cy="1320800"/>
          </a:xfrm>
        </p:spPr>
        <p:txBody>
          <a:bodyPr>
            <a:normAutofit/>
          </a:bodyPr>
          <a:lstStyle/>
          <a:p>
            <a:pPr>
              <a:lnSpc>
                <a:spcPct val="90000"/>
              </a:lnSpc>
            </a:pPr>
            <a:r>
              <a:rPr lang="en-GB" sz="2500" dirty="0"/>
              <a:t>Motivation, Background and Other Academic Work In This Area</a:t>
            </a:r>
          </a:p>
        </p:txBody>
      </p:sp>
      <p:sp>
        <p:nvSpPr>
          <p:cNvPr id="3" name="Content Placeholder 2">
            <a:extLst>
              <a:ext uri="{FF2B5EF4-FFF2-40B4-BE49-F238E27FC236}">
                <a16:creationId xmlns:a16="http://schemas.microsoft.com/office/drawing/2014/main" id="{CCBE7E13-2F50-2787-8530-ACF3A7A9943D}"/>
              </a:ext>
            </a:extLst>
          </p:cNvPr>
          <p:cNvSpPr>
            <a:spLocks noGrp="1"/>
          </p:cNvSpPr>
          <p:nvPr>
            <p:ph idx="1"/>
          </p:nvPr>
        </p:nvSpPr>
        <p:spPr>
          <a:xfrm>
            <a:off x="5209563" y="1930400"/>
            <a:ext cx="4064439" cy="3880773"/>
          </a:xfrm>
        </p:spPr>
        <p:txBody>
          <a:bodyPr>
            <a:noAutofit/>
          </a:bodyPr>
          <a:lstStyle/>
          <a:p>
            <a:pPr>
              <a:lnSpc>
                <a:spcPct val="90000"/>
              </a:lnSpc>
            </a:pPr>
            <a:r>
              <a:rPr lang="en-GB" sz="1400" dirty="0"/>
              <a:t>I have loved playing tennis for many years, now culminating in representing University of Kent.</a:t>
            </a:r>
          </a:p>
          <a:p>
            <a:pPr>
              <a:lnSpc>
                <a:spcPct val="90000"/>
              </a:lnSpc>
            </a:pPr>
            <a:r>
              <a:rPr lang="en-GB" sz="1400" dirty="0"/>
              <a:t>I have previously been interested in tennis data analysis and carried out a short classification task on 2021-2024 ATP matches.  Now I plan to research in more detail on 2016-2019 matches and find out whether the most significant predictors in determining the winner and loser are similar.</a:t>
            </a:r>
          </a:p>
          <a:p>
            <a:pPr>
              <a:lnSpc>
                <a:spcPct val="90000"/>
              </a:lnSpc>
            </a:pPr>
            <a:r>
              <a:rPr lang="en-GB" sz="1400" dirty="0"/>
              <a:t>In terms of directly using the same Kaggle data, there are a couple of notebooks regarding tennis data analysis: </a:t>
            </a:r>
            <a:r>
              <a:rPr lang="en-GB" sz="1400" dirty="0">
                <a:hlinkClick r:id="rId2"/>
              </a:rPr>
              <a:t>Huge Tennis Database</a:t>
            </a:r>
            <a:r>
              <a:rPr lang="en-GB" sz="1400" dirty="0"/>
              <a:t> </a:t>
            </a:r>
          </a:p>
          <a:p>
            <a:pPr>
              <a:lnSpc>
                <a:spcPct val="90000"/>
              </a:lnSpc>
            </a:pPr>
            <a:r>
              <a:rPr lang="en-GB" sz="1400" dirty="0"/>
              <a:t>There is a very popular YouTube channel, “Green Code”, that has made a video using complex models to predict match outcomes: </a:t>
            </a:r>
            <a:r>
              <a:rPr lang="en-US" sz="1400" dirty="0">
                <a:hlinkClick r:id="rId3"/>
              </a:rPr>
              <a:t>I Trained AI to Predict Sports - YouTube</a:t>
            </a:r>
            <a:endParaRPr lang="en-GB" sz="1400" dirty="0"/>
          </a:p>
        </p:txBody>
      </p:sp>
      <p:pic>
        <p:nvPicPr>
          <p:cNvPr id="1028" name="Picture 4" descr="Wimbledon tennis and West Ham – Olympic Stadium - Wood Flooring Company ...">
            <a:extLst>
              <a:ext uri="{FF2B5EF4-FFF2-40B4-BE49-F238E27FC236}">
                <a16:creationId xmlns:a16="http://schemas.microsoft.com/office/drawing/2014/main" id="{D54C77FA-8F4F-990F-BB1B-3EDB2459A86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5873" r="22403"/>
          <a:stretch>
            <a:fillRect/>
          </a:stretch>
        </p:blipFill>
        <p:spPr bwMode="auto">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1033" name="Isosceles Triangle 103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3734547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Novak Djokovic vs Roger Federer: Live score and regular updates from ...">
            <a:extLst>
              <a:ext uri="{FF2B5EF4-FFF2-40B4-BE49-F238E27FC236}">
                <a16:creationId xmlns:a16="http://schemas.microsoft.com/office/drawing/2014/main" id="{6D6E7118-EE7D-7A2E-6EAD-F91481E2F8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754" r="9137" b="-2"/>
          <a:stretch>
            <a:fillRect/>
          </a:stretch>
        </p:blipFill>
        <p:spPr bwMode="auto">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83D3C08-9C62-8740-58D2-1C5C1B03191F}"/>
              </a:ext>
            </a:extLst>
          </p:cNvPr>
          <p:cNvSpPr>
            <a:spLocks noGrp="1"/>
          </p:cNvSpPr>
          <p:nvPr>
            <p:ph type="title"/>
          </p:nvPr>
        </p:nvSpPr>
        <p:spPr>
          <a:xfrm>
            <a:off x="677333" y="609600"/>
            <a:ext cx="3851123" cy="1320800"/>
          </a:xfrm>
        </p:spPr>
        <p:txBody>
          <a:bodyPr>
            <a:normAutofit/>
          </a:bodyPr>
          <a:lstStyle/>
          <a:p>
            <a:r>
              <a:rPr lang="en-GB" dirty="0"/>
              <a:t>Data Overview</a:t>
            </a:r>
          </a:p>
        </p:txBody>
      </p:sp>
      <p:sp>
        <p:nvSpPr>
          <p:cNvPr id="3" name="Content Placeholder 2">
            <a:extLst>
              <a:ext uri="{FF2B5EF4-FFF2-40B4-BE49-F238E27FC236}">
                <a16:creationId xmlns:a16="http://schemas.microsoft.com/office/drawing/2014/main" id="{17ADE223-E404-323A-4BE0-EE99435088D6}"/>
              </a:ext>
            </a:extLst>
          </p:cNvPr>
          <p:cNvSpPr>
            <a:spLocks noGrp="1"/>
          </p:cNvSpPr>
          <p:nvPr>
            <p:ph idx="1"/>
          </p:nvPr>
        </p:nvSpPr>
        <p:spPr>
          <a:xfrm>
            <a:off x="677333" y="1728317"/>
            <a:ext cx="4447326" cy="4210259"/>
          </a:xfrm>
        </p:spPr>
        <p:txBody>
          <a:bodyPr>
            <a:normAutofit lnSpcReduction="10000"/>
          </a:bodyPr>
          <a:lstStyle/>
          <a:p>
            <a:pPr>
              <a:lnSpc>
                <a:spcPct val="90000"/>
              </a:lnSpc>
            </a:pPr>
            <a:r>
              <a:rPr lang="en-GB" sz="1400" dirty="0"/>
              <a:t>The data was accessed through Kaggle.  In order to analyse four separate years of matches holistically, I read each dataset into my coding environment and used ‘</a:t>
            </a:r>
            <a:r>
              <a:rPr lang="en-GB" sz="1400" dirty="0" err="1"/>
              <a:t>bind_rows</a:t>
            </a:r>
            <a:r>
              <a:rPr lang="en-GB" sz="1400" dirty="0"/>
              <a:t>’ to combine them.</a:t>
            </a:r>
          </a:p>
          <a:p>
            <a:pPr>
              <a:lnSpc>
                <a:spcPct val="90000"/>
              </a:lnSpc>
            </a:pPr>
            <a:r>
              <a:rPr lang="en-GB" sz="1400" dirty="0"/>
              <a:t>The raw data contains 49 columns. These include a range of pre-match facts, such as each player’s height and ranking, and post-match statistics, such as number of break points faced and saved.  For a comprehensive explanations of the columns, please see: </a:t>
            </a:r>
            <a:r>
              <a:rPr lang="en-GB" sz="1400" dirty="0">
                <a:hlinkClick r:id="rId3"/>
              </a:rPr>
              <a:t>https://github.com/JeffSackmann/tennis_atp/blob/master/matches_data_dictionary.txt</a:t>
            </a:r>
            <a:endParaRPr lang="en-GB" sz="1400" dirty="0"/>
          </a:p>
          <a:p>
            <a:pPr>
              <a:lnSpc>
                <a:spcPct val="90000"/>
              </a:lnSpc>
            </a:pPr>
            <a:r>
              <a:rPr lang="en-GB" sz="1400" dirty="0"/>
              <a:t>In terms of data quality, I found out there were a number of NA values so removed most rows including any.  Some columns did not have a legible name or values, so renamed those, including date.</a:t>
            </a:r>
          </a:p>
          <a:p>
            <a:pPr>
              <a:lnSpc>
                <a:spcPct val="90000"/>
              </a:lnSpc>
            </a:pPr>
            <a:r>
              <a:rPr lang="en-GB" sz="1400" dirty="0"/>
              <a:t>Before classification, I restructured the dataset to include a distinctive win/loss response for each match.</a:t>
            </a:r>
          </a:p>
        </p:txBody>
      </p:sp>
      <p:cxnSp>
        <p:nvCxnSpPr>
          <p:cNvPr id="3079" name="Straight Connector 3078">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3081" name="Straight Connector 3080">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3083"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85"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87"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89"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91"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93"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3095"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468151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EFB80-CA66-EF82-0F3D-C91CAE61F2EC}"/>
              </a:ext>
            </a:extLst>
          </p:cNvPr>
          <p:cNvSpPr>
            <a:spLocks noGrp="1"/>
          </p:cNvSpPr>
          <p:nvPr>
            <p:ph type="title"/>
          </p:nvPr>
        </p:nvSpPr>
        <p:spPr>
          <a:xfrm>
            <a:off x="5536734" y="609600"/>
            <a:ext cx="3737268" cy="1320800"/>
          </a:xfrm>
        </p:spPr>
        <p:txBody>
          <a:bodyPr>
            <a:normAutofit/>
          </a:bodyPr>
          <a:lstStyle/>
          <a:p>
            <a:r>
              <a:rPr lang="en-GB" dirty="0"/>
              <a:t>Methodology Overview</a:t>
            </a:r>
          </a:p>
        </p:txBody>
      </p:sp>
      <p:sp>
        <p:nvSpPr>
          <p:cNvPr id="3" name="Content Placeholder 2">
            <a:extLst>
              <a:ext uri="{FF2B5EF4-FFF2-40B4-BE49-F238E27FC236}">
                <a16:creationId xmlns:a16="http://schemas.microsoft.com/office/drawing/2014/main" id="{625EE140-A343-EF51-B068-EA2704A10F1F}"/>
              </a:ext>
            </a:extLst>
          </p:cNvPr>
          <p:cNvSpPr>
            <a:spLocks noGrp="1"/>
          </p:cNvSpPr>
          <p:nvPr>
            <p:ph idx="1"/>
          </p:nvPr>
        </p:nvSpPr>
        <p:spPr>
          <a:xfrm>
            <a:off x="5209563" y="1930400"/>
            <a:ext cx="4064439" cy="3880773"/>
          </a:xfrm>
        </p:spPr>
        <p:txBody>
          <a:bodyPr>
            <a:noAutofit/>
          </a:bodyPr>
          <a:lstStyle/>
          <a:p>
            <a:pPr>
              <a:lnSpc>
                <a:spcPct val="90000"/>
              </a:lnSpc>
            </a:pPr>
            <a:r>
              <a:rPr lang="en-GB" sz="1400" dirty="0"/>
              <a:t>Fit a general linear model – simple logistic regression.  I have used 5-fold cross validation in the training process and confirmed the model’s appropriateness with a half-normal plot of residuals.  In addition to standard performance metrics, odds ratios can be derived and used to determine the most important features in winning/losing a match.</a:t>
            </a:r>
          </a:p>
          <a:p>
            <a:pPr>
              <a:lnSpc>
                <a:spcPct val="90000"/>
              </a:lnSpc>
            </a:pPr>
            <a:r>
              <a:rPr lang="en-GB" sz="1400" dirty="0"/>
              <a:t>Do feature selection with a lasso logistic regression model and a then fit a ridge regularised logistic regression model.  These models are less interpretable, but it is worth checking if performance can be improved.</a:t>
            </a:r>
          </a:p>
          <a:p>
            <a:pPr>
              <a:lnSpc>
                <a:spcPct val="90000"/>
              </a:lnSpc>
            </a:pPr>
            <a:r>
              <a:rPr lang="en-GB" sz="1400" dirty="0"/>
              <a:t>Fit a random forest model with cross validation on the number of randomly sampled predictors at each split.  This is also a very interpretable model.</a:t>
            </a:r>
          </a:p>
          <a:p>
            <a:pPr>
              <a:lnSpc>
                <a:spcPct val="90000"/>
              </a:lnSpc>
            </a:pPr>
            <a:r>
              <a:rPr lang="en-GB" sz="1400" dirty="0"/>
              <a:t>Fit a neural network with cross validation on number of neurons and decay strength.  How accurate can it be compared to our simpler models?</a:t>
            </a:r>
          </a:p>
        </p:txBody>
      </p:sp>
      <p:pic>
        <p:nvPicPr>
          <p:cNvPr id="4098" name="Picture 2" descr="Wimbledon 2023 dates and schedule for men’s &amp; women’s singles – Paddy ...">
            <a:extLst>
              <a:ext uri="{FF2B5EF4-FFF2-40B4-BE49-F238E27FC236}">
                <a16:creationId xmlns:a16="http://schemas.microsoft.com/office/drawing/2014/main" id="{42B96F1E-CB8E-3EB6-C6D8-AEF0C548CB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123" r="23317" b="-1"/>
          <a:stretch>
            <a:fillRect/>
          </a:stretch>
        </p:blipFill>
        <p:spPr bwMode="auto">
          <a:xfrm>
            <a:off x="20" y="-1"/>
            <a:ext cx="5394940" cy="6858001"/>
          </a:xfrm>
          <a:custGeom>
            <a:avLst/>
            <a:gdLst/>
            <a:ahLst/>
            <a:cxnLst/>
            <a:rect l="l" t="t" r="r" b="b"/>
            <a:pathLst>
              <a:path w="5394960" h="6858000">
                <a:moveTo>
                  <a:pt x="842596" y="0"/>
                </a:moveTo>
                <a:lnTo>
                  <a:pt x="5394960" y="0"/>
                </a:lnTo>
                <a:lnTo>
                  <a:pt x="5394960" y="21851"/>
                </a:lnTo>
                <a:lnTo>
                  <a:pt x="4365943" y="6858000"/>
                </a:lnTo>
                <a:lnTo>
                  <a:pt x="0" y="6858000"/>
                </a:lnTo>
                <a:lnTo>
                  <a:pt x="0" y="5666154"/>
                </a:lnTo>
                <a:close/>
              </a:path>
            </a:pathLst>
          </a:custGeom>
          <a:noFill/>
          <a:extLst>
            <a:ext uri="{909E8E84-426E-40DD-AFC4-6F175D3DCCD1}">
              <a14:hiddenFill xmlns:a14="http://schemas.microsoft.com/office/drawing/2010/main">
                <a:solidFill>
                  <a:srgbClr val="FFFFFF"/>
                </a:solidFill>
              </a14:hiddenFill>
            </a:ext>
          </a:extLst>
        </p:spPr>
      </p:pic>
      <p:sp>
        <p:nvSpPr>
          <p:cNvPr id="4103" name="Isosceles Triangle 4102">
            <a:extLst>
              <a:ext uri="{FF2B5EF4-FFF2-40B4-BE49-F238E27FC236}">
                <a16:creationId xmlns:a16="http://schemas.microsoft.com/office/drawing/2014/main" id="{3BCB5F6A-9EB0-40B0-9D13-3023E9A205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5156998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122" name="Picture 2" descr="All You Need to Know About the Wimbledon Tennis Tournament - HubPages">
            <a:extLst>
              <a:ext uri="{FF2B5EF4-FFF2-40B4-BE49-F238E27FC236}">
                <a16:creationId xmlns:a16="http://schemas.microsoft.com/office/drawing/2014/main" id="{16D5031C-03A3-8146-954A-7DA99CF53D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1316" r="23705"/>
          <a:stretch>
            <a:fillRect/>
          </a:stretch>
        </p:blipFill>
        <p:spPr bwMode="auto">
          <a:xfrm>
            <a:off x="4269854" y="-1"/>
            <a:ext cx="7922146" cy="6858001"/>
          </a:xfrm>
          <a:custGeom>
            <a:avLst/>
            <a:gdLst/>
            <a:ahLst/>
            <a:cxnLst/>
            <a:rect l="l" t="t" r="r" b="b"/>
            <a:pathLst>
              <a:path w="7922146" h="6858001">
                <a:moveTo>
                  <a:pt x="379987" y="0"/>
                </a:moveTo>
                <a:lnTo>
                  <a:pt x="5304971" y="0"/>
                </a:lnTo>
                <a:lnTo>
                  <a:pt x="7065281" y="0"/>
                </a:lnTo>
                <a:lnTo>
                  <a:pt x="7397540" y="0"/>
                </a:lnTo>
                <a:lnTo>
                  <a:pt x="7397540" y="1"/>
                </a:lnTo>
                <a:lnTo>
                  <a:pt x="7922146" y="1"/>
                </a:lnTo>
                <a:lnTo>
                  <a:pt x="7922146" y="6858001"/>
                </a:lnTo>
                <a:lnTo>
                  <a:pt x="7065281" y="6858001"/>
                </a:lnTo>
                <a:lnTo>
                  <a:pt x="7065281" y="6858000"/>
                </a:lnTo>
                <a:lnTo>
                  <a:pt x="5932989" y="6858000"/>
                </a:lnTo>
                <a:lnTo>
                  <a:pt x="5932989" y="6858001"/>
                </a:lnTo>
                <a:lnTo>
                  <a:pt x="27809" y="6858001"/>
                </a:lnTo>
                <a:lnTo>
                  <a:pt x="1803228" y="4521201"/>
                </a:lnTo>
                <a:close/>
                <a:moveTo>
                  <a:pt x="0" y="0"/>
                </a:moveTo>
                <a:lnTo>
                  <a:pt x="379987" y="0"/>
                </a:lnTo>
                <a:lnTo>
                  <a:pt x="0" y="407"/>
                </a:lnTo>
                <a:close/>
              </a:path>
            </a:pathLst>
          </a:cu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D154FFC-71F5-C7C1-234D-A1DF66BD5869}"/>
              </a:ext>
            </a:extLst>
          </p:cNvPr>
          <p:cNvSpPr>
            <a:spLocks noGrp="1"/>
          </p:cNvSpPr>
          <p:nvPr>
            <p:ph type="title"/>
          </p:nvPr>
        </p:nvSpPr>
        <p:spPr>
          <a:xfrm>
            <a:off x="677333" y="427612"/>
            <a:ext cx="3851123" cy="1320800"/>
          </a:xfrm>
        </p:spPr>
        <p:txBody>
          <a:bodyPr>
            <a:normAutofit/>
          </a:bodyPr>
          <a:lstStyle/>
          <a:p>
            <a:pPr>
              <a:lnSpc>
                <a:spcPct val="90000"/>
              </a:lnSpc>
            </a:pPr>
            <a:r>
              <a:rPr lang="en-GB" sz="2500" dirty="0"/>
              <a:t>Comparing Models with Classical Classification Alternatives</a:t>
            </a:r>
          </a:p>
        </p:txBody>
      </p:sp>
      <p:sp>
        <p:nvSpPr>
          <p:cNvPr id="3" name="Content Placeholder 2">
            <a:extLst>
              <a:ext uri="{FF2B5EF4-FFF2-40B4-BE49-F238E27FC236}">
                <a16:creationId xmlns:a16="http://schemas.microsoft.com/office/drawing/2014/main" id="{C2A889A8-0E0A-B087-D4D9-6BCC732BDA97}"/>
              </a:ext>
            </a:extLst>
          </p:cNvPr>
          <p:cNvSpPr>
            <a:spLocks noGrp="1"/>
          </p:cNvSpPr>
          <p:nvPr>
            <p:ph idx="1"/>
          </p:nvPr>
        </p:nvSpPr>
        <p:spPr>
          <a:xfrm>
            <a:off x="677334" y="1748413"/>
            <a:ext cx="3851122" cy="4772967"/>
          </a:xfrm>
        </p:spPr>
        <p:txBody>
          <a:bodyPr>
            <a:noAutofit/>
          </a:bodyPr>
          <a:lstStyle/>
          <a:p>
            <a:pPr>
              <a:lnSpc>
                <a:spcPct val="90000"/>
              </a:lnSpc>
            </a:pPr>
            <a:r>
              <a:rPr lang="en-GB" sz="1300" dirty="0"/>
              <a:t>My first model is the classical logistic regression, then followed by the alternative variants: lasso and ridge regularised.  The main differences to the original are the penalty term (lasso reduces coefficients to zero while ridge just shrinks them).  I have also selected the strength of lambda through cross validation, which determines the strength of the penalty.</a:t>
            </a:r>
          </a:p>
          <a:p>
            <a:pPr>
              <a:lnSpc>
                <a:spcPct val="90000"/>
              </a:lnSpc>
            </a:pPr>
            <a:r>
              <a:rPr lang="en-GB" sz="1300" dirty="0"/>
              <a:t>My random forest model differs from the classical decision tree model by way of ensemble learning: the final decision on how to classify an entry is by the majority vote of all the trees.  Random forest also uses bagging – not trained on the entire dataset, so robustness is improved.  This is also enhanced by only selecting from a random subset of predictors at each split.</a:t>
            </a:r>
          </a:p>
          <a:p>
            <a:pPr>
              <a:lnSpc>
                <a:spcPct val="90000"/>
              </a:lnSpc>
            </a:pPr>
            <a:r>
              <a:rPr lang="en-GB" sz="1300" dirty="0"/>
              <a:t>My neural network has been simplified compared to a standard deep one as results from earlier models suggested the additional complexity was not helpful for this dataset. E.g. there is only one hidden layer and the number of units per layer is quite small.</a:t>
            </a:r>
          </a:p>
        </p:txBody>
      </p:sp>
      <p:cxnSp>
        <p:nvCxnSpPr>
          <p:cNvPr id="5127" name="Straight Connector 5126">
            <a:extLst>
              <a:ext uri="{FF2B5EF4-FFF2-40B4-BE49-F238E27FC236}">
                <a16:creationId xmlns:a16="http://schemas.microsoft.com/office/drawing/2014/main" id="{64FA5DFF-7FE6-4855-84E6-DFA78EE978B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5129" name="Straight Connector 5128">
            <a:extLst>
              <a:ext uri="{FF2B5EF4-FFF2-40B4-BE49-F238E27FC236}">
                <a16:creationId xmlns:a16="http://schemas.microsoft.com/office/drawing/2014/main" id="{2AFD8CBA-54A3-4363-991B-B9C631BBFA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5131" name="Rectangle 23">
            <a:extLst>
              <a:ext uri="{FF2B5EF4-FFF2-40B4-BE49-F238E27FC236}">
                <a16:creationId xmlns:a16="http://schemas.microsoft.com/office/drawing/2014/main" id="{3F088236-D655-4F88-B238-E167623580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33" name="Rectangle 25">
            <a:extLst>
              <a:ext uri="{FF2B5EF4-FFF2-40B4-BE49-F238E27FC236}">
                <a16:creationId xmlns:a16="http://schemas.microsoft.com/office/drawing/2014/main" id="{3DAC0C92-199E-475C-9390-119A9B027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35" name="Isosceles Triangle 24">
            <a:extLst>
              <a:ext uri="{FF2B5EF4-FFF2-40B4-BE49-F238E27FC236}">
                <a16:creationId xmlns:a16="http://schemas.microsoft.com/office/drawing/2014/main" id="{C4CFB339-0ED8-4FE2-9EF1-6D1375B84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37" name="Rectangle 27">
            <a:extLst>
              <a:ext uri="{FF2B5EF4-FFF2-40B4-BE49-F238E27FC236}">
                <a16:creationId xmlns:a16="http://schemas.microsoft.com/office/drawing/2014/main" id="{31896C80-2069-4431-9C19-83B9137344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47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39" name="Rectangle 28">
            <a:extLst>
              <a:ext uri="{FF2B5EF4-FFF2-40B4-BE49-F238E27FC236}">
                <a16:creationId xmlns:a16="http://schemas.microsoft.com/office/drawing/2014/main" id="{BF120A21-0841-4823-B0C4-28AEBCEF9B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41" name="Rectangle 29">
            <a:extLst>
              <a:ext uri="{FF2B5EF4-FFF2-40B4-BE49-F238E27FC236}">
                <a16:creationId xmlns:a16="http://schemas.microsoft.com/office/drawing/2014/main" id="{DBB05BAE-BBD3-4289-899F-A6851503C6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5143" name="Isosceles Triangle 29">
            <a:extLst>
              <a:ext uri="{FF2B5EF4-FFF2-40B4-BE49-F238E27FC236}">
                <a16:creationId xmlns:a16="http://schemas.microsoft.com/office/drawing/2014/main" id="{9874D11C-36F5-4BBE-A490-019A54E953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GB"/>
          </a:p>
        </p:txBody>
      </p:sp>
    </p:spTree>
    <p:extLst>
      <p:ext uri="{BB962C8B-B14F-4D97-AF65-F5344CB8AC3E}">
        <p14:creationId xmlns:p14="http://schemas.microsoft.com/office/powerpoint/2010/main" val="294243351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TM02900688[[fn=Facet]]</Template>
  <TotalTime>92</TotalTime>
  <Words>662</Words>
  <Application>Microsoft Office PowerPoint</Application>
  <PresentationFormat>Widescreen</PresentationFormat>
  <Paragraphs>21</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Trebuchet MS</vt:lpstr>
      <vt:lpstr>Wingdings 3</vt:lpstr>
      <vt:lpstr>Facet</vt:lpstr>
      <vt:lpstr>Tennis Dataset Analysis</vt:lpstr>
      <vt:lpstr>Motivation, Background and Other Academic Work In This Area</vt:lpstr>
      <vt:lpstr>Data Overview</vt:lpstr>
      <vt:lpstr>Methodology Overview</vt:lpstr>
      <vt:lpstr>Comparing Models with Classical Classification Alternatives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Edward Pearce</dc:creator>
  <cp:lastModifiedBy>Edward Pearce</cp:lastModifiedBy>
  <cp:revision>1</cp:revision>
  <dcterms:created xsi:type="dcterms:W3CDTF">2025-12-19T09:58:26Z</dcterms:created>
  <dcterms:modified xsi:type="dcterms:W3CDTF">2025-12-19T11:30:46Z</dcterms:modified>
</cp:coreProperties>
</file>